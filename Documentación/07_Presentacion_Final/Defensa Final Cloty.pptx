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0" r:id="rId13"/>
    <p:sldId id="271" r:id="rId14"/>
    <p:sldId id="272" r:id="rId15"/>
    <p:sldId id="265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235"/>
                </a:solidFill>
                <a:latin typeface="Calibri"/>
              </a:defRPr>
            </a:pPr>
            <a:r>
              <a:rPr lang="es-CL" sz="1200" b="0" i="0" u="none" strike="noStrike">
                <a:solidFill>
                  <a:srgbClr val="1A2235"/>
                </a:solidFill>
                <a:latin typeface="Calibri"/>
              </a:rPr>
              <a:t>Cobertura de casos (ejemplo)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9E6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6F-46F0-8F20-4CBD6C7F1AF2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B6F-46F0-8F20-4CBD6C7F1AF2}"/>
              </c:ext>
            </c:extLst>
          </c:dPt>
          <c:dPt>
            <c:idx val="2"/>
            <c:bubble3D val="0"/>
            <c:spPr>
              <a:solidFill>
                <a:srgbClr val="E0A52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7B6F-46F0-8F20-4CBD6C7F1AF2}"/>
              </c:ext>
            </c:extLst>
          </c:dPt>
          <c:cat>
            <c:strRef>
              <c:f>Sheet1!$A$2:$A$4</c:f>
              <c:strCache>
                <c:ptCount val="3"/>
                <c:pt idx="0">
                  <c:v>Aprobadas</c:v>
                </c:pt>
                <c:pt idx="1">
                  <c:v>Fallidas</c:v>
                </c:pt>
                <c:pt idx="2">
                  <c:v>Pendientes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B6F-46F0-8F20-4CBD6C7F1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883"/>
              </a:solidFill>
            </a:defRPr>
          </a:pPr>
          <a:endParaRPr lang="es-CL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474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— Reemplaza los textos entre [ ] con la información de tu proyecto. La defensa final vale 40% y dura 40 min con equipo de 3 integrantes y tenida formal (semanas 17-18). Recuerda tener servidores activos, entornos con software instalado e internet redundante para evitar interrupciones.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Ajusta el orden o agrupa secciones según el tiempo (40 min). Para un equipo de 3, repártanse los bloques y dejen ~5 min finales para preguntas del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Aterriza el problema con un ejemplo real y, si puedes, una cifra. El docente valora que la problemática esté bien delimitada (viene de la Experiencia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Delimitar el alcance evita prometer más de lo entregable en el semestre. Asegúrate de que los objetivos específicos sean alcanzables y verificables.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hitos resumen la planificación de la asignatura. Puedes mostrar aquí tu Carta Gantt real (formato xls/xlsx exigido en la entrega). Explica brevemente la metodología y por qué la eligieron.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asignatura exige equipos de 3 y roles claros (criterio evaluado desde la Experiencia 1). Cada integrante debe poder explicar su aporte y dominar su parte del proyecto durante la defensa.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 brevemente por qué elegiste cada tecnología (madurez, conocimiento del equipo, ajuste al caso). La asignatura promueve tecnologías actuales y disruptivas; menciónalas si aplican.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se evalúa desde la Experiencia 1. Muestra un diagrama claro y recorre el flujo de una operación típica de inicio a fin. La solución final debe ser 100% funcional y accesible en la nube.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documentación de diseño (UML, MER, wireframes) se construye en la Experiencia 2 y se actualiza con la retroalimentación recibida. Para la entrega final va en la carpeta 'Documentación' en formato pdf/doc/xls.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 de pruebas y la descripción de herramientas vienen de la Experiencia 3. Las filas grises tienen el zebra desactivado: reemplaza cada [ ] con tus tipos de prueba reales y borra los que no apliquen.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resultados concretos de la ejecución de pruebas (Experiencia 3). No basta con el gráfico: interpreta qué significan los números para la calidad del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evidencias del semestre se entregan por GitHub/OneDrive en 2 carpetas (Documentación y Producto). La versión final no puede traer errores. El no envío se califica con 1,0: es la regla más importante de la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asignatura busca proyectos que se destaquen en el mercado: explica cómo la aplicación generaría ingresos de forma realista. Indica el modelo de monetización elegido (puede ser combinación), el segmento de clientes y, si corresponde, una estructura de planes y precios. Reemplaza los valores [ $ ] con cifras propias.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conectando con los objetivos iniciales: di con claridad si se cumplieron. El trabajo futuro muestra visión y madurez; conecta con la idea de 'proyectos que se destaquen en el mercado'.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asignatura exige llegar con todo listo para presentar sin interrupciones: servidores activos, software instalado e internet redundante. Lleva SIEMPRE un video de respaldo por si falla la demo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 esta lámina mientras respondes preguntas del docente (la defensa final reserva tiempo para preguntas). Mantengan la tenida formal y que cada integrante esté listo para responder sobre su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nQ2md8YvPwX0EClpRnwwl4WrSTajpuA9/view?usp=drivesdk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1C2E54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481328"/>
            <a:ext cx="310896" cy="310896"/>
          </a:xfrm>
          <a:prstGeom prst="rect">
            <a:avLst/>
          </a:prstGeom>
          <a:solidFill>
            <a:srgbClr val="2F55D4"/>
          </a:solidFill>
          <a:ln/>
        </p:spPr>
      </p:sp>
      <p:sp>
        <p:nvSpPr>
          <p:cNvPr id="4" name="Text 2"/>
          <p:cNvSpPr/>
          <p:nvPr/>
        </p:nvSpPr>
        <p:spPr>
          <a:xfrm>
            <a:off x="1298448" y="1417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DB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FINAL DE PROYECTO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201168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4400" b="1">
                <a:solidFill>
                  <a:srgbClr val="6EAAE6"/>
                </a:solidFill>
                <a:latin typeface="Arial"/>
              </a:rPr>
              <a:t>Proyecto Cloty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6118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100" b="0">
                <a:solidFill>
                  <a:srgbClr val="F5F8FF"/>
                </a:solidFill>
                <a:latin typeface="Arial"/>
              </a:rPr>
              <a:t>Sistema digital de notificación a apoderados por prendas escolares extraviadas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96112" y="4224528"/>
            <a:ext cx="2926080" cy="0"/>
          </a:xfrm>
          <a:prstGeom prst="line">
            <a:avLst/>
          </a:prstGeom>
          <a:noFill/>
          <a:ln w="31750">
            <a:solidFill>
              <a:srgbClr val="2F55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44805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sz="1800" b="0" dirty="0" err="1">
                <a:solidFill>
                  <a:srgbClr val="F5F8FF"/>
                </a:solidFill>
                <a:latin typeface="Arial"/>
              </a:rPr>
              <a:t>Integrante</a:t>
            </a:r>
            <a:r>
              <a:rPr sz="1800" b="0" dirty="0">
                <a:solidFill>
                  <a:srgbClr val="F5F8FF"/>
                </a:solidFill>
                <a:latin typeface="Arial"/>
              </a:rPr>
              <a:t>: Matías Ignacio Vargas Baeza
</a:t>
            </a:r>
            <a:r>
              <a:rPr sz="1800" b="0" dirty="0" err="1">
                <a:solidFill>
                  <a:srgbClr val="F5F8FF"/>
                </a:solidFill>
                <a:latin typeface="Arial"/>
              </a:rPr>
              <a:t>Docente</a:t>
            </a:r>
            <a:r>
              <a:rPr sz="1800" b="0" dirty="0">
                <a:solidFill>
                  <a:srgbClr val="F5F8FF"/>
                </a:solidFill>
                <a:latin typeface="Arial"/>
              </a:rPr>
              <a:t>: Marcela Alejandra González Quezada
</a:t>
            </a:r>
            <a:r>
              <a:rPr sz="1800" b="0" dirty="0" err="1">
                <a:solidFill>
                  <a:srgbClr val="F5F8FF"/>
                </a:solidFill>
                <a:latin typeface="Arial"/>
              </a:rPr>
              <a:t>Sección</a:t>
            </a:r>
            <a:r>
              <a:rPr sz="1800" b="0" dirty="0">
                <a:solidFill>
                  <a:srgbClr val="F5F8FF"/>
                </a:solidFill>
                <a:latin typeface="Arial"/>
              </a:rPr>
              <a:t>: 001D        </a:t>
            </a:r>
            <a:r>
              <a:rPr sz="1800" b="0" dirty="0" err="1">
                <a:solidFill>
                  <a:srgbClr val="F5F8FF"/>
                </a:solidFill>
                <a:latin typeface="Arial"/>
              </a:rPr>
              <a:t>Fecha</a:t>
            </a:r>
            <a:r>
              <a:rPr sz="1800" b="0" dirty="0">
                <a:solidFill>
                  <a:srgbClr val="F5F8FF"/>
                </a:solidFill>
                <a:latin typeface="Arial"/>
              </a:rPr>
              <a:t>: 0</a:t>
            </a:r>
            <a:r>
              <a:rPr lang="es-CL" sz="1800" b="0" dirty="0">
                <a:solidFill>
                  <a:srgbClr val="F5F8FF"/>
                </a:solidFill>
                <a:latin typeface="Arial"/>
              </a:rPr>
              <a:t>7</a:t>
            </a:r>
            <a:r>
              <a:rPr sz="1800" b="0" dirty="0">
                <a:solidFill>
                  <a:srgbClr val="F5F8FF"/>
                </a:solidFill>
                <a:latin typeface="Arial"/>
              </a:rPr>
              <a:t> / 07 /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777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47888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F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Y</a:t>
            </a:r>
            <a:endParaRPr lang="en-US" sz="1000" dirty="0"/>
          </a:p>
          <a:p>
            <a:pPr marL="0" indent="0">
              <a:buNone/>
            </a:pPr>
            <a:r>
              <a:rPr lang="en-US" sz="1000" kern="0" spc="100" dirty="0">
                <a:solidFill>
                  <a:srgbClr val="8F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TELECOMUNICACIONES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PRESENTACIÓN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64792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648" y="189280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67712" y="170992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problemática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764792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18928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936992" y="170992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alcance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" y="2715768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2880360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648" y="300837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67712" y="282549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Metodología, planificación y roles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09360" y="2715768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92240" y="2880360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8" y="300837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36992" y="282549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diseño de la solución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40080" y="3831336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22960" y="3995928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5648" y="4123944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267712" y="3941064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producto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6309360" y="3831336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492240" y="3995928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928" y="4123944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936992" y="3941064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(QA) y resultados</a:t>
            </a:r>
            <a:endParaRPr lang="en-US" sz="1450" dirty="0"/>
          </a:p>
        </p:txBody>
      </p:sp>
      <p:sp>
        <p:nvSpPr>
          <p:cNvPr id="31" name="Shape 23"/>
          <p:cNvSpPr/>
          <p:nvPr/>
        </p:nvSpPr>
        <p:spPr>
          <a:xfrm>
            <a:off x="640080" y="4946904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822960" y="5111496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5648" y="5239512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267712" y="505663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y monetización</a:t>
            </a:r>
            <a:endParaRPr lang="en-US" sz="1450" dirty="0"/>
          </a:p>
        </p:txBody>
      </p:sp>
      <p:sp>
        <p:nvSpPr>
          <p:cNvPr id="35" name="Shape 26"/>
          <p:cNvSpPr/>
          <p:nvPr/>
        </p:nvSpPr>
        <p:spPr>
          <a:xfrm>
            <a:off x="6309360" y="4946904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6492240" y="5111496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0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4928" y="5239512"/>
            <a:ext cx="329184" cy="32918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936992" y="505663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Gestión, conclusiones y cierre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problemática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01368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221992"/>
            <a:ext cx="5971032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sz="1800">
                <a:solidFill>
                  <a:srgbClr val="1E1E1E"/>
                </a:solidFill>
                <a:latin typeface="Arial"/>
              </a:rPr>
              <a:t>En colegios privados, la ropa escolar extraviada suele administrarse con procesos manuales y baja trazabilidad.</a:t>
            </a:r>
            <a:endParaRPr lang="en-US" sz="1300" dirty="0"/>
          </a:p>
          <a:p>
            <a:r>
              <a:rPr sz="1800">
                <a:solidFill>
                  <a:srgbClr val="1E1E1E"/>
                </a:solidFill>
                <a:latin typeface="Arial"/>
              </a:rPr>
              <a:t>La dificultad principal no es sólo identificar una prenda, sino informar oportunamente al apoderado cuando el colegio registra el hallazgo.</a:t>
            </a:r>
          </a:p>
          <a:p>
            <a:r>
              <a:rPr sz="1800">
                <a:solidFill>
                  <a:srgbClr val="1E1E1E"/>
                </a:solidFill>
                <a:latin typeface="Arial"/>
              </a:rPr>
              <a:t>Cloty digitaliza el proceso: el NFC permite identificar al alumno y el sistema permite notificar al apoderado desde la aplicación móvil.</a:t>
            </a:r>
          </a:p>
          <a:p>
            <a:r>
              <a:rPr sz="1800">
                <a:solidFill>
                  <a:srgbClr val="1E1E1E"/>
                </a:solidFill>
                <a:latin typeface="Arial"/>
              </a:rPr>
              <a:t>Procesos involucrados: carga de alumnos/apoderados, asociación NFC, registro de evento, notificación e historial de devolución.</a:t>
            </a:r>
          </a:p>
        </p:txBody>
      </p:sp>
      <p:sp>
        <p:nvSpPr>
          <p:cNvPr id="10" name="Shape 8"/>
          <p:cNvSpPr/>
          <p:nvPr/>
        </p:nvSpPr>
        <p:spPr>
          <a:xfrm>
            <a:off x="7269480" y="1600200"/>
            <a:ext cx="4251960" cy="2148840"/>
          </a:xfrm>
          <a:prstGeom prst="roundRect">
            <a:avLst>
              <a:gd name="adj" fmla="val 3404"/>
            </a:avLst>
          </a:prstGeom>
          <a:solidFill>
            <a:srgbClr val="13213F"/>
          </a:solidFill>
          <a:ln/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181051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500" b="1">
                <a:solidFill>
                  <a:srgbClr val="6EAAE6"/>
                </a:solidFill>
                <a:latin typeface="Arial"/>
              </a:rPr>
              <a:t>1.000 alumnos
3.000 tarjetas NFC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498080" y="25786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0">
                <a:solidFill>
                  <a:srgbClr val="F5F8FF"/>
                </a:solidFill>
                <a:latin typeface="Arial"/>
              </a:rPr>
              <a:t>Caso base para estimar costos: 3 tarjetas por alumno y operación cloud diaria.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69480" y="3977640"/>
            <a:ext cx="4251960" cy="2148840"/>
          </a:xfrm>
          <a:prstGeom prst="roundRect">
            <a:avLst>
              <a:gd name="adj" fmla="val 3404"/>
            </a:avLst>
          </a:prstGeom>
          <a:solidFill>
            <a:srgbClr val="E9EEFC"/>
          </a:solidFill>
          <a:ln w="12700">
            <a:solidFill>
              <a:srgbClr val="D6DEF2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206240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973568" y="41879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 impacta?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470916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sz="1500">
                <a:solidFill>
                  <a:srgbClr val="1E1E1E"/>
                </a:solidFill>
                <a:latin typeface="Arial"/>
              </a:rPr>
              <a:t>Apoderados: reciben aviso oportuno.</a:t>
            </a:r>
            <a:endParaRPr lang="en-US" sz="1250" dirty="0"/>
          </a:p>
          <a:p>
            <a:r>
              <a:rPr sz="1500">
                <a:solidFill>
                  <a:srgbClr val="1E1E1E"/>
                </a:solidFill>
                <a:latin typeface="Arial"/>
              </a:rPr>
              <a:t>Colegios: registran hallazgos y devoluciones.</a:t>
            </a:r>
          </a:p>
          <a:p>
            <a:r>
              <a:rPr sz="1500">
                <a:solidFill>
                  <a:srgbClr val="1E1E1E"/>
                </a:solidFill>
                <a:latin typeface="Arial"/>
              </a:rPr>
              <a:t>Alumnos: entidad asociada al evento.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NOS PROPUSIMOS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alcance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2F55D4"/>
          </a:solidFill>
          <a:ln/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38528"/>
            <a:ext cx="420624" cy="4206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" y="2880360"/>
            <a:ext cx="528523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96112" y="308152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36208" y="2880360"/>
            <a:ext cx="5285232" cy="3246120"/>
          </a:xfrm>
          <a:prstGeom prst="roundRect">
            <a:avLst>
              <a:gd name="adj" fmla="val 2254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639312"/>
            <a:ext cx="274320" cy="27432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97000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81328" y="1833647"/>
            <a:ext cx="9464040" cy="55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rgbClr val="0A0A0A"/>
                </a:solidFill>
                <a:latin typeface="Aptos"/>
              </a:rPr>
              <a:t>Notificar</a:t>
            </a:r>
            <a:r>
              <a:rPr sz="1800" dirty="0">
                <a:solidFill>
                  <a:srgbClr val="0A0A0A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0A0A0A"/>
                </a:solidFill>
                <a:latin typeface="Aptos"/>
              </a:rPr>
              <a:t>digitalmente</a:t>
            </a:r>
            <a:r>
              <a:rPr sz="1800" dirty="0">
                <a:solidFill>
                  <a:srgbClr val="0A0A0A"/>
                </a:solidFill>
                <a:latin typeface="Aptos"/>
              </a:rPr>
              <a:t> a </a:t>
            </a:r>
            <a:r>
              <a:rPr sz="1800" dirty="0" err="1">
                <a:solidFill>
                  <a:srgbClr val="0A0A0A"/>
                </a:solidFill>
                <a:latin typeface="Aptos"/>
              </a:rPr>
              <a:t>los</a:t>
            </a:r>
            <a:r>
              <a:rPr sz="1800" dirty="0">
                <a:solidFill>
                  <a:srgbClr val="0A0A0A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0A0A0A"/>
                </a:solidFill>
                <a:latin typeface="Aptos"/>
              </a:rPr>
              <a:t>apoderados</a:t>
            </a:r>
            <a:r>
              <a:rPr sz="1800" dirty="0">
                <a:solidFill>
                  <a:srgbClr val="0A0A0A"/>
                </a:solidFill>
                <a:latin typeface="Aptos"/>
              </a:rPr>
              <a:t>, </a:t>
            </a:r>
            <a:r>
              <a:rPr sz="1800" dirty="0" err="1">
                <a:solidFill>
                  <a:srgbClr val="0A0A0A"/>
                </a:solidFill>
                <a:latin typeface="Aptos"/>
              </a:rPr>
              <a:t>mediante</a:t>
            </a:r>
            <a:r>
              <a:rPr sz="1800" dirty="0">
                <a:solidFill>
                  <a:srgbClr val="0A0A0A"/>
                </a:solidFill>
                <a:latin typeface="Aptos"/>
              </a:rPr>
              <a:t> NFC,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rgbClr val="0A0A0A"/>
                </a:solidFill>
                <a:latin typeface="Aptos"/>
              </a:rPr>
              <a:t>cuando</a:t>
            </a:r>
            <a:r>
              <a:rPr sz="1800" dirty="0">
                <a:solidFill>
                  <a:srgbClr val="0A0A0A"/>
                </a:solidFill>
                <a:latin typeface="Aptos"/>
              </a:rPr>
              <a:t> el colegio </a:t>
            </a:r>
            <a:r>
              <a:rPr sz="1800" dirty="0" err="1">
                <a:solidFill>
                  <a:srgbClr val="0A0A0A"/>
                </a:solidFill>
                <a:latin typeface="Aptos"/>
              </a:rPr>
              <a:t>registre</a:t>
            </a:r>
            <a:r>
              <a:rPr sz="1800" dirty="0">
                <a:solidFill>
                  <a:srgbClr val="0A0A0A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0A0A0A"/>
                </a:solidFill>
                <a:latin typeface="Aptos"/>
              </a:rPr>
              <a:t>una</a:t>
            </a:r>
            <a:r>
              <a:rPr sz="1800" dirty="0">
                <a:solidFill>
                  <a:srgbClr val="0A0A0A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0A0A0A"/>
                </a:solidFill>
                <a:latin typeface="Aptos"/>
              </a:rPr>
              <a:t>prenda</a:t>
            </a:r>
            <a:r>
              <a:rPr sz="1800" dirty="0">
                <a:solidFill>
                  <a:srgbClr val="0A0A0A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0A0A0A"/>
                </a:solidFill>
                <a:latin typeface="Aptos"/>
              </a:rPr>
              <a:t>encontrada</a:t>
            </a:r>
            <a:r>
              <a:rPr sz="1800" dirty="0">
                <a:solidFill>
                  <a:srgbClr val="0A0A0A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0A0A0A"/>
                </a:solidFill>
                <a:latin typeface="Aptos"/>
              </a:rPr>
              <a:t>asociada</a:t>
            </a:r>
            <a:r>
              <a:rPr sz="1800" dirty="0">
                <a:solidFill>
                  <a:srgbClr val="0A0A0A"/>
                </a:solidFill>
                <a:latin typeface="Aptos"/>
              </a:rPr>
              <a:t> a uno de sus </a:t>
            </a:r>
            <a:r>
              <a:rPr sz="1800" dirty="0" err="1">
                <a:solidFill>
                  <a:srgbClr val="0A0A0A"/>
                </a:solidFill>
                <a:latin typeface="Aptos"/>
              </a:rPr>
              <a:t>hijos</a:t>
            </a:r>
            <a:r>
              <a:rPr sz="1800" dirty="0">
                <a:solidFill>
                  <a:srgbClr val="0A0A0A"/>
                </a:solidFill>
                <a:latin typeface="Apto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10128"/>
            <a:ext cx="4800600" cy="24231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340"/>
                </a:solidFill>
                <a:latin typeface="Aptos"/>
              </a:rPr>
              <a:t>• Tres apps Android: administrador, colegio y apoderado.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340"/>
                </a:solidFill>
                <a:latin typeface="Aptos"/>
              </a:rPr>
              <a:t>• Backend Spring Boot con API REST, JWT y roles.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340"/>
                </a:solidFill>
                <a:latin typeface="Aptos"/>
              </a:rPr>
              <a:t>• Persistencia de usuarios, alumnos, tarjetas y eventos en MySQL.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340"/>
                </a:solidFill>
                <a:latin typeface="Aptos"/>
              </a:rPr>
              <a:t>• Despliegue en AWS EC2 y validación mediante pruebas.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044952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2949B4"/>
                </a:solidFill>
                <a:latin typeface="Aptos"/>
              </a:rPr>
              <a:t>Alcance</a:t>
            </a:r>
            <a:r>
              <a:rPr sz="1800" b="1" dirty="0">
                <a:solidFill>
                  <a:srgbClr val="2949B4"/>
                </a:solidFill>
                <a:latin typeface="Aptos"/>
              </a:rPr>
              <a:t> del </a:t>
            </a:r>
            <a:r>
              <a:rPr sz="1800" b="1" dirty="0" err="1">
                <a:solidFill>
                  <a:srgbClr val="2949B4"/>
                </a:solidFill>
                <a:latin typeface="Aptos"/>
              </a:rPr>
              <a:t>proyecto</a:t>
            </a:r>
            <a:endParaRPr sz="1800" b="1" dirty="0">
              <a:solidFill>
                <a:srgbClr val="2949B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12280" y="358444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72340"/>
                </a:solidFill>
                <a:latin typeface="Aptos"/>
              </a:rPr>
              <a:t>Incluye</a:t>
            </a:r>
            <a:endParaRPr sz="1600" b="1" dirty="0">
              <a:solidFill>
                <a:srgbClr val="172340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3931920"/>
            <a:ext cx="3840480" cy="82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72340"/>
                </a:solidFill>
                <a:latin typeface="Aptos"/>
              </a:rPr>
              <a:t>• Carga CSV de apoderados y alumnos.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72340"/>
                </a:solidFill>
                <a:latin typeface="Aptos"/>
              </a:rPr>
              <a:t>• Escaneo NFC y registro de eventos.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72340"/>
                </a:solidFill>
                <a:latin typeface="Aptos"/>
              </a:rPr>
              <a:t>• Historial y notificaciones para el apoderado.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9500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340"/>
                </a:solidFill>
                <a:latin typeface="Aptos"/>
              </a:rPr>
              <a:t>Fuera de alcance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260000"/>
            <a:ext cx="3840480" cy="7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340"/>
                </a:solidFill>
                <a:latin typeface="Aptos"/>
              </a:rPr>
              <a:t>• Pagos y contratos.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340"/>
                </a:solidFill>
                <a:latin typeface="Aptos"/>
              </a:rPr>
              <a:t>• Logística de tarjetas NFC.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340"/>
                </a:solidFill>
                <a:latin typeface="Aptos"/>
              </a:rPr>
              <a:t>• Identificación específica del tipo de prenda.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ORGANIZAMOS EL TRABAJO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planificación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013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221992"/>
            <a:ext cx="3182112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sz="1800">
                <a:solidFill>
                  <a:srgbClr val="1E1E1E"/>
                </a:solidFill>
                <a:latin typeface="Arial"/>
              </a:rPr>
              <a:t>Metodología: Scrum adaptado al desarrollo académico.</a:t>
            </a:r>
            <a:endParaRPr lang="en-US" sz="1250" dirty="0"/>
          </a:p>
          <a:p>
            <a:r>
              <a:rPr sz="1800">
                <a:solidFill>
                  <a:srgbClr val="1E1E1E"/>
                </a:solidFill>
                <a:latin typeface="Arial"/>
              </a:rPr>
              <a:t>Iteraciones semanales con revisión funcional por módulos.</a:t>
            </a:r>
          </a:p>
          <a:p>
            <a:r>
              <a:rPr sz="1800">
                <a:solidFill>
                  <a:srgbClr val="1E1E1E"/>
                </a:solidFill>
                <a:latin typeface="Arial"/>
              </a:rPr>
              <a:t>Seguimiento por entregables: backend, apps móviles, BD, pruebas y despliegue.</a:t>
            </a:r>
          </a:p>
          <a:p>
            <a:r>
              <a:rPr sz="1800">
                <a:solidFill>
                  <a:srgbClr val="1E1E1E"/>
                </a:solidFill>
                <a:latin typeface="Arial"/>
              </a:rPr>
              <a:t>Herramientas: GitHub, Android Studio, Postman, Swagger/OpenAPI.</a:t>
            </a:r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7086600" cy="4526280"/>
          </a:xfrm>
          <a:prstGeom prst="roundRect">
            <a:avLst>
              <a:gd name="adj" fmla="val 1616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78308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general — hitos del semestre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457200" cy="457200"/>
          </a:xfrm>
          <a:prstGeom prst="ellipse">
            <a:avLst/>
          </a:prstGeom>
          <a:solidFill>
            <a:srgbClr val="2F55D4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83480" y="2788920"/>
            <a:ext cx="0" cy="475488"/>
          </a:xfrm>
          <a:prstGeom prst="line">
            <a:avLst/>
          </a:prstGeom>
          <a:noFill/>
          <a:ln w="19050">
            <a:solidFill>
              <a:srgbClr val="2F55D4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440680" y="2295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44678"/>
                </a:solidFill>
                <a:latin typeface="Arial"/>
              </a:rPr>
              <a:t>Inicio y análisis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40680" y="2551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0">
                <a:solidFill>
                  <a:srgbClr val="1E1E1E"/>
                </a:solidFill>
                <a:latin typeface="Arial"/>
              </a:rPr>
              <a:t>Problemática, objetivos, alcance y modelo de negocio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0" y="23500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0">
                <a:solidFill>
                  <a:srgbClr val="1E1E1E"/>
                </a:solidFill>
                <a:latin typeface="Arial"/>
              </a:rPr>
              <a:t>Semanas 1-4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264408"/>
            <a:ext cx="457200" cy="457200"/>
          </a:xfrm>
          <a:prstGeom prst="ellipse">
            <a:avLst/>
          </a:prstGeom>
          <a:solidFill>
            <a:srgbClr val="2F55D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83480" y="3721608"/>
            <a:ext cx="0" cy="475488"/>
          </a:xfrm>
          <a:prstGeom prst="line">
            <a:avLst/>
          </a:prstGeom>
          <a:noFill/>
          <a:ln w="19050">
            <a:solidFill>
              <a:srgbClr val="2F55D4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440680" y="3227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44678"/>
                </a:solidFill>
                <a:latin typeface="Arial"/>
              </a:rPr>
              <a:t>Diseño y desarrollo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40680" y="34838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0">
                <a:solidFill>
                  <a:srgbClr val="1E1E1E"/>
                </a:solidFill>
                <a:latin typeface="Arial"/>
              </a:rPr>
              <a:t>Arquitectura, base de datos, API REST y apps móviles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0" y="328269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0">
                <a:solidFill>
                  <a:srgbClr val="1E1E1E"/>
                </a:solidFill>
                <a:latin typeface="Arial"/>
              </a:rPr>
              <a:t>Semanas 5-12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4197096"/>
            <a:ext cx="457200" cy="457200"/>
          </a:xfrm>
          <a:prstGeom prst="ellipse">
            <a:avLst/>
          </a:prstGeom>
          <a:solidFill>
            <a:srgbClr val="2F55D4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83480" y="4654296"/>
            <a:ext cx="0" cy="475488"/>
          </a:xfrm>
          <a:prstGeom prst="line">
            <a:avLst/>
          </a:prstGeom>
          <a:noFill/>
          <a:ln w="19050">
            <a:solidFill>
              <a:srgbClr val="2F55D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44068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44678"/>
                </a:solidFill>
                <a:latin typeface="Arial"/>
              </a:rPr>
              <a:t>Integración y QA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40680" y="4416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0">
                <a:solidFill>
                  <a:srgbClr val="1E1E1E"/>
                </a:solidFill>
                <a:latin typeface="Arial"/>
              </a:rPr>
              <a:t>Pruebas funcionales, Postman, JUnit 5 y Mockito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84080" y="421538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0">
                <a:solidFill>
                  <a:srgbClr val="1E1E1E"/>
                </a:solidFill>
                <a:latin typeface="Arial"/>
              </a:rPr>
              <a:t>Semanas 13-15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5129784"/>
            <a:ext cx="457200" cy="457200"/>
          </a:xfrm>
          <a:prstGeom prst="ellipse">
            <a:avLst/>
          </a:prstGeom>
          <a:solidFill>
            <a:srgbClr val="2F55D4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5093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44678"/>
                </a:solidFill>
                <a:latin typeface="Arial"/>
              </a:rPr>
              <a:t>Entrega final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40680" y="5349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0">
                <a:solidFill>
                  <a:srgbClr val="1E1E1E"/>
                </a:solidFill>
                <a:latin typeface="Arial"/>
              </a:rPr>
              <a:t>AWS EC2, informe final, Swagger y defensa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84080" y="51480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0">
                <a:solidFill>
                  <a:srgbClr val="1E1E1E"/>
                </a:solidFill>
                <a:latin typeface="Arial"/>
              </a:rPr>
              <a:t>Semanas 16-18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81728" y="581558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1E1E1E"/>
                </a:solidFill>
                <a:latin typeface="Arial"/>
              </a:rPr>
              <a:t>Carta Gantt consolidada en el informe y documentación del proyecto.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 equipo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33372" y="2194560"/>
            <a:ext cx="1133856" cy="1133856"/>
          </a:xfrm>
          <a:prstGeom prst="ellipse">
            <a:avLst/>
          </a:prstGeom>
          <a:solidFill>
            <a:srgbClr val="E9EE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404" y="2450592"/>
            <a:ext cx="621792" cy="62179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389120" y="178308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82412" y="2194560"/>
            <a:ext cx="1133856" cy="1133856"/>
          </a:xfrm>
          <a:prstGeom prst="ellipse">
            <a:avLst/>
          </a:prstGeom>
          <a:solidFill>
            <a:srgbClr val="E9EEFC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44" y="2450592"/>
            <a:ext cx="621792" cy="62179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138160" y="178308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331452" y="2194560"/>
            <a:ext cx="1133856" cy="1133856"/>
          </a:xfrm>
          <a:prstGeom prst="ellipse">
            <a:avLst/>
          </a:prstGeom>
          <a:solidFill>
            <a:srgbClr val="E9EEFC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7484" y="2450592"/>
            <a:ext cx="621792" cy="62179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8700" y="336499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215396"/>
                </a:solidFill>
                <a:latin typeface="Aptos"/>
              </a:rPr>
              <a:t>Matías I. Vargas Baeza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44148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215396"/>
                </a:solidFill>
                <a:latin typeface="Aptos"/>
              </a:rPr>
              <a:t>Matías I. Vargas Baeza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36499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5396"/>
                </a:solidFill>
                <a:latin typeface="Aptos"/>
              </a:rPr>
              <a:t>Matías I. Vargas Baeza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5900" y="373989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1600" b="1" dirty="0" err="1">
                <a:solidFill>
                  <a:srgbClr val="141414"/>
                </a:solidFill>
                <a:latin typeface="Aptos"/>
              </a:rPr>
              <a:t>Product</a:t>
            </a:r>
            <a:r>
              <a:rPr lang="es-CL" sz="1600" b="1" dirty="0">
                <a:solidFill>
                  <a:srgbClr val="141414"/>
                </a:solidFill>
                <a:latin typeface="Aptos"/>
              </a:rPr>
              <a:t> Owner</a:t>
            </a:r>
            <a:endParaRPr sz="16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94960" y="3768419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1600" b="1" dirty="0">
                <a:solidFill>
                  <a:srgbClr val="141414"/>
                </a:solidFill>
                <a:latin typeface="Aptos"/>
              </a:rPr>
              <a:t>Scrum Master</a:t>
            </a:r>
            <a:endParaRPr sz="16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83980" y="3808067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1600" b="1" dirty="0" err="1">
                <a:solidFill>
                  <a:srgbClr val="141414"/>
                </a:solidFill>
                <a:latin typeface="Aptos"/>
              </a:rPr>
              <a:t>Developer</a:t>
            </a:r>
            <a:endParaRPr sz="16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80160" y="4123944"/>
            <a:ext cx="2560320" cy="1417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72340"/>
                </a:solidFill>
                <a:latin typeface="Aptos"/>
              </a:rPr>
              <a:t>• </a:t>
            </a:r>
            <a:r>
              <a:rPr sz="1400" b="0" dirty="0" err="1">
                <a:solidFill>
                  <a:srgbClr val="172340"/>
                </a:solidFill>
                <a:latin typeface="Aptos"/>
              </a:rPr>
              <a:t>Definición</a:t>
            </a:r>
            <a:r>
              <a:rPr sz="1400" b="0" dirty="0">
                <a:solidFill>
                  <a:srgbClr val="172340"/>
                </a:solidFill>
                <a:latin typeface="Aptos"/>
              </a:rPr>
              <a:t> de</a:t>
            </a:r>
            <a:r>
              <a:rPr lang="es-CL" sz="1400" b="0" dirty="0">
                <a:solidFill>
                  <a:srgbClr val="172340"/>
                </a:solidFill>
                <a:latin typeface="Aptos"/>
              </a:rPr>
              <a:t> la visión de </a:t>
            </a:r>
            <a:r>
              <a:rPr lang="es-CL" sz="1400" b="0" dirty="0" err="1">
                <a:solidFill>
                  <a:srgbClr val="172340"/>
                </a:solidFill>
                <a:latin typeface="Aptos"/>
              </a:rPr>
              <a:t>Cloty</a:t>
            </a:r>
            <a:endParaRPr sz="1400" b="0" dirty="0">
              <a:solidFill>
                <a:srgbClr val="172340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72340"/>
                </a:solidFill>
                <a:latin typeface="Aptos"/>
              </a:rPr>
              <a:t>•</a:t>
            </a:r>
            <a:r>
              <a:rPr lang="es-CL" sz="1400" dirty="0">
                <a:solidFill>
                  <a:srgbClr val="172340"/>
                </a:solidFill>
                <a:latin typeface="Aptos"/>
              </a:rPr>
              <a:t> Priorización del backlog según  valor para usuario</a:t>
            </a:r>
            <a:endParaRPr sz="1400" b="0" dirty="0">
              <a:solidFill>
                <a:srgbClr val="172340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72340"/>
                </a:solidFill>
                <a:latin typeface="Aptos"/>
              </a:rPr>
              <a:t>• </a:t>
            </a:r>
            <a:r>
              <a:rPr lang="es-CL" sz="1400" dirty="0">
                <a:solidFill>
                  <a:srgbClr val="172340"/>
                </a:solidFill>
                <a:latin typeface="Aptos"/>
              </a:rPr>
              <a:t>Validación de alcance funcional</a:t>
            </a:r>
          </a:p>
          <a:p>
            <a:r>
              <a:rPr lang="en-US" sz="1400" dirty="0">
                <a:solidFill>
                  <a:srgbClr val="172340"/>
                </a:solidFill>
                <a:latin typeface="Aptos"/>
              </a:rPr>
              <a:t>•</a:t>
            </a:r>
            <a:r>
              <a:rPr lang="es-CL" sz="1400" b="0" dirty="0">
                <a:solidFill>
                  <a:srgbClr val="172340"/>
                </a:solidFill>
                <a:latin typeface="Aptos"/>
              </a:rPr>
              <a:t> Revisión del producto final</a:t>
            </a:r>
            <a:endParaRPr sz="1400" b="0" dirty="0">
              <a:solidFill>
                <a:srgbClr val="172340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0" y="4219547"/>
            <a:ext cx="2560320" cy="1417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72340"/>
                </a:solidFill>
                <a:latin typeface="Aptos"/>
              </a:rPr>
              <a:t>• </a:t>
            </a:r>
            <a:r>
              <a:rPr lang="es-CL" sz="1400" b="0" dirty="0">
                <a:solidFill>
                  <a:srgbClr val="172340"/>
                </a:solidFill>
                <a:latin typeface="Aptos"/>
              </a:rPr>
              <a:t>Organización del trabajo por iteraciones semanales</a:t>
            </a:r>
            <a:endParaRPr sz="1400" b="0" dirty="0">
              <a:solidFill>
                <a:srgbClr val="172340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72340"/>
                </a:solidFill>
                <a:latin typeface="Aptos"/>
              </a:rPr>
              <a:t>• </a:t>
            </a:r>
            <a:r>
              <a:rPr lang="es-CL" sz="1400" b="0" dirty="0">
                <a:solidFill>
                  <a:srgbClr val="172340"/>
                </a:solidFill>
                <a:latin typeface="Aptos"/>
              </a:rPr>
              <a:t>Seguimiento del avance del proyecto y entregables</a:t>
            </a:r>
            <a:endParaRPr sz="1400" b="0" dirty="0">
              <a:solidFill>
                <a:srgbClr val="172340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72340"/>
                </a:solidFill>
                <a:latin typeface="Aptos"/>
              </a:rPr>
              <a:t>• </a:t>
            </a:r>
            <a:r>
              <a:rPr lang="es-CL" sz="1400" dirty="0">
                <a:solidFill>
                  <a:srgbClr val="172340"/>
                </a:solidFill>
                <a:latin typeface="Aptos"/>
              </a:rPr>
              <a:t>Identificación y resolución del problemas técnicos dentro del avance</a:t>
            </a:r>
            <a:endParaRPr sz="1400" b="0" dirty="0">
              <a:solidFill>
                <a:srgbClr val="172340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80219" y="4174748"/>
            <a:ext cx="2560320" cy="1417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72340"/>
                </a:solidFill>
                <a:latin typeface="Aptos"/>
              </a:rPr>
              <a:t>• </a:t>
            </a:r>
            <a:r>
              <a:rPr lang="es-CL" sz="1400" dirty="0">
                <a:solidFill>
                  <a:srgbClr val="172340"/>
                </a:solidFill>
                <a:latin typeface="Aptos"/>
              </a:rPr>
              <a:t>Desarrollo de </a:t>
            </a:r>
            <a:r>
              <a:rPr lang="es-CL" sz="1400" dirty="0" err="1">
                <a:solidFill>
                  <a:srgbClr val="172340"/>
                </a:solidFill>
                <a:latin typeface="Aptos"/>
              </a:rPr>
              <a:t>backend</a:t>
            </a:r>
            <a:endParaRPr sz="1400" b="0" dirty="0">
              <a:solidFill>
                <a:srgbClr val="172340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72340"/>
                </a:solidFill>
                <a:latin typeface="Aptos"/>
              </a:rPr>
              <a:t>• </a:t>
            </a:r>
            <a:r>
              <a:rPr lang="es-CL" sz="1400" dirty="0">
                <a:solidFill>
                  <a:srgbClr val="172340"/>
                </a:solidFill>
                <a:latin typeface="Aptos"/>
              </a:rPr>
              <a:t>Desarrollo apps Android</a:t>
            </a:r>
            <a:endParaRPr sz="1400" b="0" dirty="0">
              <a:solidFill>
                <a:srgbClr val="172340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72340"/>
                </a:solidFill>
                <a:latin typeface="Aptos"/>
              </a:rPr>
              <a:t>• </a:t>
            </a:r>
            <a:r>
              <a:rPr lang="es-CL" sz="1400" dirty="0">
                <a:solidFill>
                  <a:srgbClr val="172340"/>
                </a:solidFill>
                <a:latin typeface="Aptos"/>
              </a:rPr>
              <a:t>Integración NFC, </a:t>
            </a:r>
            <a:r>
              <a:rPr lang="es-CL" sz="1400" dirty="0" err="1">
                <a:solidFill>
                  <a:srgbClr val="172340"/>
                </a:solidFill>
                <a:latin typeface="Aptos"/>
              </a:rPr>
              <a:t>workmanager</a:t>
            </a:r>
            <a:r>
              <a:rPr lang="es-CL" sz="1400" dirty="0">
                <a:solidFill>
                  <a:srgbClr val="172340"/>
                </a:solidFill>
                <a:latin typeface="Aptos"/>
              </a:rPr>
              <a:t>, correo y lógica de notificaciones</a:t>
            </a:r>
          </a:p>
          <a:p>
            <a:r>
              <a:rPr lang="en-US" sz="1400" dirty="0">
                <a:solidFill>
                  <a:srgbClr val="172340"/>
                </a:solidFill>
                <a:latin typeface="Aptos"/>
              </a:rPr>
              <a:t>•</a:t>
            </a:r>
            <a:r>
              <a:rPr lang="es-CL" sz="1400" dirty="0">
                <a:solidFill>
                  <a:srgbClr val="172340"/>
                </a:solidFill>
                <a:latin typeface="Aptos"/>
              </a:rPr>
              <a:t> Pruebas unitarias</a:t>
            </a:r>
          </a:p>
          <a:p>
            <a:r>
              <a:rPr lang="en-US" sz="1400" dirty="0">
                <a:solidFill>
                  <a:srgbClr val="172340"/>
                </a:solidFill>
                <a:latin typeface="Aptos"/>
              </a:rPr>
              <a:t>• </a:t>
            </a:r>
            <a:r>
              <a:rPr lang="en-US" sz="1400" dirty="0" err="1">
                <a:solidFill>
                  <a:srgbClr val="172340"/>
                </a:solidFill>
                <a:latin typeface="Aptos"/>
              </a:rPr>
              <a:t>Despliegue</a:t>
            </a:r>
            <a:r>
              <a:rPr lang="en-US" sz="1400" dirty="0">
                <a:solidFill>
                  <a:srgbClr val="172340"/>
                </a:solidFill>
                <a:latin typeface="Aptos"/>
              </a:rPr>
              <a:t> </a:t>
            </a:r>
            <a:r>
              <a:rPr lang="en-US" sz="1400" dirty="0" err="1">
                <a:solidFill>
                  <a:srgbClr val="172340"/>
                </a:solidFill>
                <a:latin typeface="Aptos"/>
              </a:rPr>
              <a:t>en</a:t>
            </a:r>
            <a:r>
              <a:rPr lang="en-US" sz="1400" dirty="0">
                <a:solidFill>
                  <a:srgbClr val="172340"/>
                </a:solidFill>
                <a:latin typeface="Aptos"/>
              </a:rPr>
              <a:t> AWS</a:t>
            </a:r>
            <a:endParaRPr lang="es-CL" sz="1400" dirty="0">
              <a:solidFill>
                <a:srgbClr val="172340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400" b="0" dirty="0">
              <a:solidFill>
                <a:srgbClr val="1723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LO CONSTRUIMOS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965960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2F55D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39696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55648" y="20025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755648" y="23682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700" b="0">
                <a:solidFill>
                  <a:srgbClr val="1E1E1E"/>
                </a:solidFill>
                <a:latin typeface="Arial"/>
              </a:rPr>
              <a:t>Android nativo
Kotlin
Android Studio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89120" y="16916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45152" y="1965960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2F55D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13969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04688" y="20025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5504688" y="23682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700" b="0">
                <a:solidFill>
                  <a:srgbClr val="1E1E1E"/>
                </a:solidFill>
                <a:latin typeface="Arial"/>
              </a:rPr>
              <a:t>Java Spring Boot
API REST
JPA / Hibernate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38160" y="16916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94192" y="1965960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2F55D4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213969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53728" y="20025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9253728" y="23682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700" b="0" dirty="0">
                <a:solidFill>
                  <a:srgbClr val="1E1E1E"/>
                </a:solidFill>
                <a:latin typeface="Arial"/>
              </a:rPr>
              <a:t>MySQL
BD </a:t>
            </a:r>
            <a:r>
              <a:rPr lang="es-CL" sz="1700" dirty="0">
                <a:solidFill>
                  <a:srgbClr val="1E1E1E"/>
                </a:solidFill>
                <a:latin typeface="Arial"/>
              </a:rPr>
              <a:t>C</a:t>
            </a:r>
            <a:r>
              <a:rPr sz="1700" b="0" dirty="0" err="1">
                <a:solidFill>
                  <a:srgbClr val="1E1E1E"/>
                </a:solidFill>
                <a:latin typeface="Arial"/>
              </a:rPr>
              <a:t>loty</a:t>
            </a:r>
            <a:r>
              <a:rPr sz="1700" b="0" dirty="0">
                <a:solidFill>
                  <a:srgbClr val="1E1E1E"/>
                </a:solidFill>
                <a:latin typeface="Arial"/>
              </a:rPr>
              <a:t>
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373075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96112" y="4005072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2F55D4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" y="417880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55648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Despliegue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755648" y="44074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0">
                <a:solidFill>
                  <a:srgbClr val="1E1E1E"/>
                </a:solidFill>
                <a:latin typeface="Arial"/>
              </a:rPr>
              <a:t>AWS EC2
m7i-flex.large
Ubuntu LTS · 25 GB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389120" y="373075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645152" y="4005072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2F55D4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4178808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504688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5504688" y="44074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500" b="0" dirty="0">
                <a:solidFill>
                  <a:srgbClr val="1E1E1E"/>
                </a:solidFill>
                <a:latin typeface="Arial"/>
              </a:rPr>
              <a:t>GitHub
Postman
Swagger</a:t>
            </a:r>
            <a:endParaRPr lang="es-CL" sz="1500" dirty="0">
              <a:solidFill>
                <a:srgbClr val="1E1E1E"/>
              </a:solidFill>
              <a:latin typeface="Arial"/>
            </a:endParaRPr>
          </a:p>
          <a:p>
            <a:pPr marL="0" indent="0" algn="ctr">
              <a:buNone/>
            </a:pPr>
            <a:r>
              <a:rPr sz="1500" b="0" dirty="0">
                <a:solidFill>
                  <a:srgbClr val="1E1E1E"/>
                </a:solidFill>
                <a:latin typeface="Arial"/>
              </a:rPr>
              <a:t>
JUnit 5 + Mockito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138160" y="373075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394192" y="4005072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2F55D4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7928" y="4178808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253728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disruptivas</a:t>
            </a:r>
            <a:endParaRPr lang="en-US" sz="1450" dirty="0"/>
          </a:p>
        </p:txBody>
      </p:sp>
      <p:sp>
        <p:nvSpPr>
          <p:cNvPr id="36" name="Text 28"/>
          <p:cNvSpPr/>
          <p:nvPr/>
        </p:nvSpPr>
        <p:spPr>
          <a:xfrm>
            <a:off x="9253728" y="44074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0">
                <a:solidFill>
                  <a:srgbClr val="1E1E1E"/>
                </a:solidFill>
                <a:latin typeface="Arial"/>
              </a:rPr>
              <a:t>NFC
WorkManager
JWT
Correo SMTP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 TODO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7360920" cy="4480560"/>
          </a:xfrm>
          <a:prstGeom prst="roundRect">
            <a:avLst>
              <a:gd name="adj" fmla="val 1633"/>
            </a:avLst>
          </a:prstGeom>
          <a:solidFill>
            <a:srgbClr val="F4F7FE"/>
          </a:solidFill>
          <a:ln w="19050">
            <a:solidFill>
              <a:srgbClr val="2F55D4"/>
            </a:solidFill>
            <a:prstDash val="dash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108960"/>
            <a:ext cx="685800" cy="685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38160" y="164592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901952"/>
            <a:ext cx="6492240" cy="3611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47888" y="1874519"/>
            <a:ext cx="2743200" cy="40690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45720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340"/>
                </a:solidFill>
                <a:latin typeface="Aptos"/>
              </a:rPr>
              <a:t>• Arquitectura cliente-servidor con backend monolítico Spring Boot.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72340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340"/>
                </a:solidFill>
                <a:latin typeface="Aptos"/>
              </a:rPr>
              <a:t>• Tres apps Android consumen la API REST usando JWT.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72340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340"/>
                </a:solidFill>
                <a:latin typeface="Aptos"/>
              </a:rPr>
              <a:t>• Backend y MySQL desplegados en la misma instancia AWS EC2.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72340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340"/>
                </a:solidFill>
                <a:latin typeface="Aptos"/>
              </a:rPr>
              <a:t>• WorkManager consulta eventos cada 15 minutos en la app apoderado.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PROTOTIPOS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3213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9339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901952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6112" y="2816352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>
                <a:solidFill>
                  <a:srgbClr val="172340"/>
                </a:solidFill>
                <a:latin typeface="Aptos"/>
              </a:rPr>
              <a:t>Casos de uso por rol: superusuario, administrador, colegio y apoderado.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96112" y="3749040"/>
            <a:ext cx="3008376" cy="1783080"/>
          </a:xfrm>
          <a:prstGeom prst="roundRect">
            <a:avLst>
              <a:gd name="adj" fmla="val 3077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389120" y="173736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389120" y="173736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3213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993392"/>
            <a:ext cx="420624" cy="4206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1901952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(MER)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45152" y="2816352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>
                <a:solidFill>
                  <a:srgbClr val="172340"/>
                </a:solidFill>
                <a:latin typeface="Aptos"/>
              </a:rPr>
              <a:t>Modelo MySQL definido a partir de los scripts SQL del proyecto.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645152" y="3749040"/>
            <a:ext cx="3008376" cy="1783080"/>
          </a:xfrm>
          <a:prstGeom prst="roundRect">
            <a:avLst>
              <a:gd name="adj" fmla="val 3077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8138160" y="173736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8138160" y="173736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3213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993392"/>
            <a:ext cx="420624" cy="4206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61120" y="1901952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/ MockUp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94192" y="2816352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>
                <a:solidFill>
                  <a:srgbClr val="172340"/>
                </a:solidFill>
                <a:latin typeface="Aptos"/>
              </a:rPr>
              <a:t>Pantallas finales para administración, colegio y apoderado.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394192" y="3749040"/>
            <a:ext cx="3008376" cy="1783080"/>
          </a:xfrm>
          <a:prstGeom prst="roundRect">
            <a:avLst>
              <a:gd name="adj" fmla="val 3077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dash"/>
          </a:ln>
        </p:spPr>
        <p:txBody>
          <a:bodyPr/>
          <a:lstStyle/>
          <a:p>
            <a:endParaRPr/>
          </a:p>
        </p:txBody>
      </p:sp>
      <p:pic>
        <p:nvPicPr>
          <p:cNvPr id="27" name="Picture 26" descr="oldpage-26_crop.png"/>
          <p:cNvPicPr>
            <a:picLocks noChangeAspect="1"/>
          </p:cNvPicPr>
          <p:nvPr/>
        </p:nvPicPr>
        <p:blipFill>
          <a:blip r:embed="rId6"/>
          <a:srcRect t="7460" b="7460"/>
          <a:stretch>
            <a:fillRect/>
          </a:stretch>
        </p:blipFill>
        <p:spPr>
          <a:xfrm>
            <a:off x="868680" y="3703320"/>
            <a:ext cx="3154680" cy="1920240"/>
          </a:xfrm>
          <a:prstGeom prst="rect">
            <a:avLst/>
          </a:prstGeom>
        </p:spPr>
      </p:pic>
      <p:pic>
        <p:nvPicPr>
          <p:cNvPr id="28" name="Picture 27" descr="data_model.png"/>
          <p:cNvPicPr>
            <a:picLocks noChangeAspect="1"/>
          </p:cNvPicPr>
          <p:nvPr/>
        </p:nvPicPr>
        <p:blipFill>
          <a:blip r:embed="rId7"/>
          <a:srcRect l="26374" r="26374"/>
          <a:stretch>
            <a:fillRect/>
          </a:stretch>
        </p:blipFill>
        <p:spPr>
          <a:xfrm>
            <a:off x="4507992" y="3749039"/>
            <a:ext cx="2788920" cy="1371600"/>
          </a:xfrm>
          <a:prstGeom prst="rect">
            <a:avLst/>
          </a:prstGeom>
        </p:spPr>
      </p:pic>
      <p:pic>
        <p:nvPicPr>
          <p:cNvPr id="29" name="Picture 28" descr="oldpage-30_crop.png"/>
          <p:cNvPicPr>
            <a:picLocks noChangeAspect="1"/>
          </p:cNvPicPr>
          <p:nvPr/>
        </p:nvPicPr>
        <p:blipFill>
          <a:blip r:embed="rId8"/>
          <a:srcRect t="10863" b="10863"/>
          <a:stretch>
            <a:fillRect/>
          </a:stretch>
        </p:blipFill>
        <p:spPr>
          <a:xfrm>
            <a:off x="8577072" y="3749039"/>
            <a:ext cx="26974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DE CALIDAD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(QA)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949440" cy="340156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Tipo de prueba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Qué valida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Herramienta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Unitarias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Lógica aislada de servicios y componentes backend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JUnit 5 + Mockito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Integración / API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Comunicación apps móviles, API REST y base de datos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Postman + AWS EC2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Funcionales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Requisitos de usuario: login, CSV, NFC, eventos, historial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Apps Android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Seguridad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JWT, roles, contraseñas cifradas y códigos de 6 dígitos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Spring 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Documentación API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Contratos REST, parámetros y respuestas esperadas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rial"/>
                        </a:rPr>
                        <a:t>Swagger / OpenAPI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28432" y="18928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pruebas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28432" y="2313432"/>
            <a:ext cx="327355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sz="1600">
                <a:solidFill>
                  <a:srgbClr val="1E1E1E"/>
                </a:solidFill>
                <a:latin typeface="Arial"/>
              </a:rPr>
              <a:t>Cobertura sobre funciones core: autenticación, usuarios, colegios, alumnos, apoderados, tarjetas NFC, eventos y notificaciones.</a:t>
            </a:r>
            <a:endParaRPr lang="en-US" sz="1200" dirty="0"/>
          </a:p>
          <a:p>
            <a:r>
              <a:rPr sz="1600">
                <a:solidFill>
                  <a:srgbClr val="1E1E1E"/>
                </a:solidFill>
                <a:latin typeface="Arial"/>
              </a:rPr>
              <a:t>Criterio de aceptación: caso aprobado cuando cumple resultado esperado sin error funcional.</a:t>
            </a:r>
          </a:p>
          <a:p>
            <a:r>
              <a:rPr sz="1600">
                <a:solidFill>
                  <a:srgbClr val="1E1E1E"/>
                </a:solidFill>
                <a:latin typeface="Arial"/>
              </a:rPr>
              <a:t>Ambientes: local para desarrollo y AWS EC2 para validación cloud.</a:t>
            </a:r>
          </a:p>
          <a:p>
            <a:r>
              <a:rPr sz="1600">
                <a:solidFill>
                  <a:srgbClr val="1E1E1E"/>
                </a:solidFill>
                <a:latin typeface="Arial"/>
              </a:rPr>
              <a:t>Swagger facilita revisar endpoints y contratos de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LA CALIDAD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las pruebas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483773701"/>
              </p:ext>
            </p:extLst>
          </p:nvPr>
        </p:nvGraphicFramePr>
        <p:xfrm>
          <a:off x="640080" y="1737360"/>
          <a:ext cx="40233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0">
                <a:solidFill>
                  <a:srgbClr val="1E1E1E"/>
                </a:solidFill>
                <a:latin typeface="Arial"/>
              </a:rPr>
              <a:t>Cobertura de casos del plan de pruebas final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0" y="1783080"/>
            <a:ext cx="320040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57800" y="19476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3600" b="1">
                <a:solidFill>
                  <a:srgbClr val="144678"/>
                </a:solidFill>
                <a:latin typeface="Arial"/>
              </a:rPr>
              <a:t>25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276088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ejecutados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485632" y="1783080"/>
            <a:ext cx="320040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14232" y="19476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dirty="0">
                <a:solidFill>
                  <a:srgbClr val="144678"/>
                </a:solidFill>
                <a:latin typeface="Arial"/>
              </a:rPr>
              <a:t>88</a:t>
            </a:r>
            <a:r>
              <a:rPr sz="3600" b="1" dirty="0">
                <a:solidFill>
                  <a:srgbClr val="144678"/>
                </a:solidFill>
                <a:latin typeface="Arial"/>
              </a:rPr>
              <a:t>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73252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éxito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0" y="3337560"/>
            <a:ext cx="320040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57800" y="3502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dirty="0">
                <a:solidFill>
                  <a:srgbClr val="144678"/>
                </a:solidFill>
                <a:latin typeface="Arial"/>
              </a:rPr>
              <a:t>2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5276088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detectados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85632" y="3337560"/>
            <a:ext cx="320040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14232" y="3502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dirty="0">
                <a:solidFill>
                  <a:srgbClr val="144678"/>
                </a:solidFill>
                <a:latin typeface="Arial"/>
              </a:rPr>
              <a:t>2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87325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corregidos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029200" y="4773168"/>
            <a:ext cx="6656832" cy="1024128"/>
          </a:xfrm>
          <a:prstGeom prst="roundRect">
            <a:avLst>
              <a:gd name="adj" fmla="val 7143"/>
            </a:avLst>
          </a:prstGeom>
          <a:solidFill>
            <a:srgbClr val="13213F"/>
          </a:solidFill>
          <a:ln/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276088" y="48188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los resultados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85232" y="5065776"/>
            <a:ext cx="614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500" dirty="0">
                <a:solidFill>
                  <a:srgbClr val="F5F8FF"/>
                </a:solidFill>
                <a:latin typeface="Arial"/>
              </a:rPr>
              <a:t>El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producto</a:t>
            </a:r>
            <a:r>
              <a:rPr sz="1500" dirty="0">
                <a:solidFill>
                  <a:srgbClr val="F5F8FF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cumple</a:t>
            </a:r>
            <a:r>
              <a:rPr sz="1500" dirty="0">
                <a:solidFill>
                  <a:srgbClr val="F5F8FF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los</a:t>
            </a:r>
            <a:r>
              <a:rPr sz="1500" dirty="0">
                <a:solidFill>
                  <a:srgbClr val="F5F8FF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criterios</a:t>
            </a:r>
            <a:r>
              <a:rPr sz="1500" dirty="0">
                <a:solidFill>
                  <a:srgbClr val="F5F8FF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definidos</a:t>
            </a:r>
            <a:r>
              <a:rPr sz="1500" dirty="0">
                <a:solidFill>
                  <a:srgbClr val="F5F8FF"/>
                </a:solidFill>
                <a:latin typeface="Arial"/>
              </a:rPr>
              <a:t> para la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entrega</a:t>
            </a:r>
            <a:r>
              <a:rPr sz="1500" dirty="0">
                <a:solidFill>
                  <a:srgbClr val="F5F8FF"/>
                </a:solidFill>
                <a:latin typeface="Arial"/>
              </a:rPr>
              <a:t> final. Se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validaron</a:t>
            </a:r>
            <a:r>
              <a:rPr sz="1500" dirty="0">
                <a:solidFill>
                  <a:srgbClr val="F5F8FF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funciones</a:t>
            </a:r>
            <a:r>
              <a:rPr sz="1500" dirty="0">
                <a:solidFill>
                  <a:srgbClr val="F5F8FF"/>
                </a:solidFill>
                <a:latin typeface="Arial"/>
              </a:rPr>
              <a:t> core,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integración</a:t>
            </a:r>
            <a:r>
              <a:rPr sz="1500" dirty="0">
                <a:solidFill>
                  <a:srgbClr val="F5F8FF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móvil</a:t>
            </a:r>
            <a:r>
              <a:rPr sz="1500" dirty="0">
                <a:solidFill>
                  <a:srgbClr val="F5F8FF"/>
                </a:solidFill>
                <a:latin typeface="Arial"/>
              </a:rPr>
              <a:t>-backend-BD, API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en</a:t>
            </a:r>
            <a:r>
              <a:rPr sz="1500" dirty="0">
                <a:solidFill>
                  <a:srgbClr val="F5F8FF"/>
                </a:solidFill>
                <a:latin typeface="Arial"/>
              </a:rPr>
              <a:t> AWS,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correo</a:t>
            </a:r>
            <a:r>
              <a:rPr sz="1500" dirty="0">
                <a:solidFill>
                  <a:srgbClr val="F5F8FF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electrónico</a:t>
            </a:r>
            <a:r>
              <a:rPr sz="1500" dirty="0">
                <a:solidFill>
                  <a:srgbClr val="F5F8FF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WorkManager</a:t>
            </a:r>
            <a:r>
              <a:rPr sz="1500" dirty="0">
                <a:solidFill>
                  <a:srgbClr val="F5F8FF"/>
                </a:solidFill>
                <a:latin typeface="Arial"/>
              </a:rPr>
              <a:t>, JUnit/Mockito y </a:t>
            </a:r>
            <a:r>
              <a:rPr sz="1500" dirty="0" err="1">
                <a:solidFill>
                  <a:srgbClr val="F5F8FF"/>
                </a:solidFill>
                <a:latin typeface="Arial"/>
              </a:rPr>
              <a:t>documentación</a:t>
            </a:r>
            <a:r>
              <a:rPr sz="1500" dirty="0">
                <a:solidFill>
                  <a:srgbClr val="F5F8FF"/>
                </a:solidFill>
                <a:latin typeface="Arial"/>
              </a:rPr>
              <a:t> Swagger.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DEL TRABAJO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evidencias y entrega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3213F"/>
          </a:solidFill>
          <a:ln/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3852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38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en GitHub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F5F8FF"/>
                </a:solidFill>
                <a:latin typeface="Arial"/>
              </a:rPr>
              <a:t>Repositorio GitHub del proyecto Cloty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0632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600">
                <a:solidFill>
                  <a:srgbClr val="F5F8FF"/>
                </a:solidFill>
                <a:latin typeface="Arial"/>
              </a:rPr>
              <a:t>Control de versiones y código fuente del backend y aplicaciones Android.</a:t>
            </a:r>
            <a:endParaRPr lang="en-US" sz="1250" dirty="0"/>
          </a:p>
          <a:p>
            <a:r>
              <a:rPr sz="1600">
                <a:solidFill>
                  <a:srgbClr val="F5F8FF"/>
                </a:solidFill>
                <a:latin typeface="Arial"/>
              </a:rPr>
              <a:t>Instructivo para ejecutar el sistema en ambiente local y AWS.</a:t>
            </a:r>
          </a:p>
          <a:p>
            <a:r>
              <a:rPr sz="1600">
                <a:solidFill>
                  <a:srgbClr val="F5F8FF"/>
                </a:solidFill>
                <a:latin typeface="Arial"/>
              </a:rPr>
              <a:t>Scripts SQL: esquema cloty y seed de regiones/comunas.</a:t>
            </a:r>
          </a:p>
          <a:p>
            <a:r>
              <a:rPr sz="1600">
                <a:solidFill>
                  <a:srgbClr val="F5F8FF"/>
                </a:solidFill>
                <a:latin typeface="Arial"/>
              </a:rPr>
              <a:t>Referencia Swagger/OpenAPI para endpoints REST.</a:t>
            </a:r>
          </a:p>
        </p:txBody>
      </p:sp>
      <p:sp>
        <p:nvSpPr>
          <p:cNvPr id="12" name="Text 9"/>
          <p:cNvSpPr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900" b="1">
                <a:solidFill>
                  <a:srgbClr val="144678"/>
                </a:solidFill>
                <a:latin typeface="Arial"/>
              </a:rPr>
              <a:t>Entrega final — Documentación y producto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309360" y="21945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10528" y="2505456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F55D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66090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2359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E1E1E"/>
                </a:solidFill>
                <a:latin typeface="Arial"/>
              </a:rPr>
              <a:t>Documentación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315200" y="2724912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 b="0">
                <a:solidFill>
                  <a:srgbClr val="1E1E1E"/>
                </a:solidFill>
                <a:latin typeface="Arial"/>
              </a:rPr>
              <a:t>Informe final, presentación, modelos de datos, UML, planificación, matriz de pruebas y evaluación económica.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09360" y="36118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10528" y="3922776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F55D4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407822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15200" y="3776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E1E1E"/>
                </a:solidFill>
                <a:latin typeface="Arial"/>
              </a:rPr>
              <a:t>Producto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7315200" y="4142232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 b="0">
                <a:solidFill>
                  <a:srgbClr val="1E1E1E"/>
                </a:solidFill>
                <a:latin typeface="Arial"/>
              </a:rPr>
              <a:t>Código fuente, aplicaciones Android, backend Spring Boot, scripts SQL, librerías y recursos de ejecución.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GENERA VALOR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y monetización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generará ingresos la aplicación?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529584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55D4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16712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08176" y="200253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solidFill>
                  <a:srgbClr val="144678"/>
                </a:solidFill>
                <a:latin typeface="Arial"/>
              </a:rPr>
              <a:t>Cliente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408176" y="2295144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300" b="0">
                <a:solidFill>
                  <a:srgbClr val="1E1E1E"/>
                </a:solidFill>
                <a:latin typeface="Arial"/>
              </a:rPr>
              <a:t>Colegio privado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15968" y="1874520"/>
            <a:ext cx="3529584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98848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55D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16712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84064" y="200253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solidFill>
                  <a:srgbClr val="144678"/>
                </a:solidFill>
                <a:latin typeface="Arial"/>
              </a:rPr>
              <a:t>Usuario final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084064" y="2295144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300" b="0">
                <a:solidFill>
                  <a:srgbClr val="1E1E1E"/>
                </a:solidFill>
                <a:latin typeface="Arial"/>
              </a:rPr>
              <a:t>Apoderados y colegio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991856" y="1874520"/>
            <a:ext cx="3529584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74736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216712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59952" y="200253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solidFill>
                  <a:srgbClr val="144678"/>
                </a:solidFill>
                <a:latin typeface="Arial"/>
              </a:rPr>
              <a:t>Cobro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759952" y="2295144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300" b="0">
                <a:solidFill>
                  <a:srgbClr val="1E1E1E"/>
                </a:solidFill>
                <a:latin typeface="Arial"/>
              </a:rPr>
              <a:t>Anual por colegio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40080" y="2862072"/>
            <a:ext cx="3529584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22960" y="3044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55D4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154680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08176" y="29900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solidFill>
                  <a:srgbClr val="144678"/>
                </a:solidFill>
                <a:latin typeface="Arial"/>
              </a:rPr>
              <a:t>Unidad base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408176" y="328269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300" b="0">
                <a:solidFill>
                  <a:srgbClr val="1E1E1E"/>
                </a:solidFill>
                <a:latin typeface="Arial"/>
              </a:rPr>
              <a:t>Alumno activo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315968" y="2862072"/>
            <a:ext cx="3529584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98848" y="3044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55D4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3154680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84064" y="29900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solidFill>
                  <a:srgbClr val="144678"/>
                </a:solidFill>
                <a:latin typeface="Arial"/>
              </a:rPr>
              <a:t>Costos incluidos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084064" y="328269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200" b="0">
                <a:solidFill>
                  <a:srgbClr val="1E1E1E"/>
                </a:solidFill>
                <a:latin typeface="Arial"/>
              </a:rPr>
              <a:t>Cloud + tarjetas + contabilidad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7991856" y="2862072"/>
            <a:ext cx="3529584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174736" y="3044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55D4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4" y="3154680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759952" y="29900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solidFill>
                  <a:srgbClr val="144678"/>
                </a:solidFill>
                <a:latin typeface="Arial"/>
              </a:rPr>
              <a:t>Margen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8759952" y="328269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300" b="0">
                <a:solidFill>
                  <a:srgbClr val="1E1E1E"/>
                </a:solidFill>
                <a:latin typeface="Arial"/>
              </a:rPr>
              <a:t>30% de ganancia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640080" y="37124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0">
                <a:solidFill>
                  <a:srgbClr val="1E1E1E"/>
                </a:solidFill>
                <a:latin typeface="Arial"/>
              </a:rPr>
              <a:t>Modelo elegido: servicio anual cobrado al colegio. El apoderado recibe el beneficio sin pago directo dentro de la app.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40080" y="4114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</p:sp>
      <p:sp>
        <p:nvSpPr>
          <p:cNvPr id="40" name="Text 32"/>
          <p:cNvSpPr/>
          <p:nvPr/>
        </p:nvSpPr>
        <p:spPr>
          <a:xfrm>
            <a:off x="896112" y="43159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objetivo y propuesta de valor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896112" y="4736592"/>
            <a:ext cx="48737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sz="1500">
                <a:solidFill>
                  <a:srgbClr val="1E1E1E"/>
                </a:solidFill>
                <a:latin typeface="Arial"/>
              </a:rPr>
              <a:t>Segmento: colegios privados de Chile.</a:t>
            </a:r>
            <a:endParaRPr lang="en-US" sz="1150" dirty="0"/>
          </a:p>
          <a:p>
            <a:r>
              <a:rPr sz="1500">
                <a:solidFill>
                  <a:srgbClr val="1E1E1E"/>
                </a:solidFill>
                <a:latin typeface="Arial"/>
              </a:rPr>
              <a:t>Valor: notificación digital al apoderado y trazabilidad del evento.</a:t>
            </a:r>
          </a:p>
          <a:p>
            <a:r>
              <a:rPr sz="1500">
                <a:solidFill>
                  <a:srgbClr val="1E1E1E"/>
                </a:solidFill>
                <a:latin typeface="Arial"/>
              </a:rPr>
              <a:t>Canal: contratación institucional + apps Android.</a:t>
            </a:r>
          </a:p>
        </p:txBody>
      </p:sp>
      <p:sp>
        <p:nvSpPr>
          <p:cNvPr id="42" name="Text 34"/>
          <p:cNvSpPr/>
          <p:nvPr/>
        </p:nvSpPr>
        <p:spPr>
          <a:xfrm>
            <a:off x="6309360" y="42245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precios (ejemplo)</a:t>
            </a:r>
            <a:endParaRPr lang="en-US" sz="1350" dirty="0"/>
          </a:p>
        </p:txBody>
      </p:sp>
      <p:sp>
        <p:nvSpPr>
          <p:cNvPr id="43" name="Shape 35"/>
          <p:cNvSpPr/>
          <p:nvPr/>
        </p:nvSpPr>
        <p:spPr>
          <a:xfrm>
            <a:off x="6309360" y="4572000"/>
            <a:ext cx="1627632" cy="1444752"/>
          </a:xfrm>
          <a:prstGeom prst="roundRect">
            <a:avLst>
              <a:gd name="adj" fmla="val 5063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309360" y="470001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1E1E"/>
                </a:solidFill>
                <a:latin typeface="Arial"/>
              </a:rPr>
              <a:t>Costo operativo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6309360" y="499262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700" b="1">
                <a:solidFill>
                  <a:srgbClr val="144678"/>
                </a:solidFill>
                <a:latin typeface="Arial"/>
              </a:rPr>
              <a:t>$1.686.372</a:t>
            </a:r>
            <a:endParaRPr lang="en-US" sz="2400" dirty="0"/>
          </a:p>
        </p:txBody>
      </p:sp>
      <p:sp>
        <p:nvSpPr>
          <p:cNvPr id="46" name="Text 38"/>
          <p:cNvSpPr/>
          <p:nvPr/>
        </p:nvSpPr>
        <p:spPr>
          <a:xfrm>
            <a:off x="6382512" y="5522976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100" b="0">
                <a:solidFill>
                  <a:srgbClr val="1E1E1E"/>
                </a:solidFill>
                <a:latin typeface="Arial"/>
              </a:rPr>
              <a:t>Anual base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8101584" y="4543067"/>
            <a:ext cx="1627632" cy="1444752"/>
          </a:xfrm>
          <a:prstGeom prst="roundRect">
            <a:avLst>
              <a:gd name="adj" fmla="val 5063"/>
            </a:avLst>
          </a:prstGeom>
          <a:solidFill>
            <a:schemeClr val="accent1"/>
          </a:solidFill>
          <a:ln w="12700">
            <a:solidFill>
              <a:srgbClr val="13213F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8101584" y="470001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1E1E"/>
                </a:solidFill>
                <a:latin typeface="Arial"/>
              </a:rPr>
              <a:t>Precio colegio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8101584" y="499262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700" b="1">
                <a:solidFill>
                  <a:srgbClr val="144678"/>
                </a:solidFill>
                <a:latin typeface="Arial"/>
              </a:rPr>
              <a:t>$2.192.284</a:t>
            </a:r>
            <a:endParaRPr lang="en-US" sz="2400" dirty="0"/>
          </a:p>
        </p:txBody>
      </p:sp>
      <p:sp>
        <p:nvSpPr>
          <p:cNvPr id="50" name="Text 42"/>
          <p:cNvSpPr/>
          <p:nvPr/>
        </p:nvSpPr>
        <p:spPr>
          <a:xfrm>
            <a:off x="8174736" y="5522976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100" b="0" dirty="0">
                <a:solidFill>
                  <a:srgbClr val="1E1E1E"/>
                </a:solidFill>
                <a:latin typeface="Arial"/>
              </a:rPr>
              <a:t>1.000 </a:t>
            </a:r>
            <a:r>
              <a:rPr sz="1100" b="0" dirty="0" err="1">
                <a:solidFill>
                  <a:srgbClr val="1E1E1E"/>
                </a:solidFill>
                <a:latin typeface="Arial"/>
              </a:rPr>
              <a:t>alumnos</a:t>
            </a:r>
            <a:endParaRPr lang="en-US" sz="950" dirty="0"/>
          </a:p>
        </p:txBody>
      </p:sp>
      <p:sp>
        <p:nvSpPr>
          <p:cNvPr id="51" name="Shape 43"/>
          <p:cNvSpPr/>
          <p:nvPr/>
        </p:nvSpPr>
        <p:spPr>
          <a:xfrm>
            <a:off x="9893808" y="4572000"/>
            <a:ext cx="1627632" cy="1444752"/>
          </a:xfrm>
          <a:prstGeom prst="roundRect">
            <a:avLst>
              <a:gd name="adj" fmla="val 5063"/>
            </a:avLst>
          </a:prstGeom>
          <a:solidFill>
            <a:srgbClr val="F4F7FE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9893808" y="470001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1E1E"/>
                </a:solidFill>
                <a:latin typeface="Arial"/>
              </a:rPr>
              <a:t>Precio alumno</a:t>
            </a:r>
            <a:endParaRPr lang="en-US" sz="1250" dirty="0"/>
          </a:p>
        </p:txBody>
      </p:sp>
      <p:sp>
        <p:nvSpPr>
          <p:cNvPr id="53" name="Text 45"/>
          <p:cNvSpPr/>
          <p:nvPr/>
        </p:nvSpPr>
        <p:spPr>
          <a:xfrm>
            <a:off x="9893808" y="499262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700" b="1">
                <a:solidFill>
                  <a:srgbClr val="144678"/>
                </a:solidFill>
                <a:latin typeface="Arial"/>
              </a:rPr>
              <a:t>$2.192</a:t>
            </a:r>
            <a:endParaRPr lang="en-US" sz="2400" dirty="0"/>
          </a:p>
        </p:txBody>
      </p:sp>
      <p:sp>
        <p:nvSpPr>
          <p:cNvPr id="54" name="Text 46"/>
          <p:cNvSpPr/>
          <p:nvPr/>
        </p:nvSpPr>
        <p:spPr>
          <a:xfrm>
            <a:off x="9966960" y="5522976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100" b="0">
                <a:solidFill>
                  <a:srgbClr val="1E1E1E"/>
                </a:solidFill>
                <a:latin typeface="Arial"/>
              </a:rPr>
              <a:t>Anual calculado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rect">
            <a:avLst/>
          </a:prstGeom>
          <a:solidFill>
            <a:srgbClr val="2F55D4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F5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PROYECTO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trabajo futuro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DEF2"/>
            </a:solidFill>
            <a:prstDash val="solid"/>
          </a:ln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9280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313432"/>
            <a:ext cx="487375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sz="1600">
                <a:solidFill>
                  <a:srgbClr val="1E1E1E"/>
                </a:solidFill>
                <a:latin typeface="Arial"/>
              </a:rPr>
              <a:t>Sí, se cumplió el objetivo general: Cloty permite notificar digitalmente al apoderado cuando el colegio registra una prenda encontrada.</a:t>
            </a:r>
            <a:endParaRPr lang="en-US" sz="1250" dirty="0"/>
          </a:p>
          <a:p>
            <a:r>
              <a:rPr sz="1600">
                <a:solidFill>
                  <a:srgbClr val="1E1E1E"/>
                </a:solidFill>
                <a:latin typeface="Arial"/>
              </a:rPr>
              <a:t>Producto final: tres apps Android, backend Spring Boot, MySQL, JWT, correo, WorkManager y AWS EC2.</a:t>
            </a:r>
          </a:p>
          <a:p>
            <a:r>
              <a:rPr sz="1600">
                <a:solidFill>
                  <a:srgbClr val="1E1E1E"/>
                </a:solidFill>
                <a:latin typeface="Arial"/>
              </a:rPr>
              <a:t>Aprendizajes: integración móvil-backend-BD, seguridad, pruebas, Swagger y despliegue cloud.</a:t>
            </a:r>
          </a:p>
          <a:p>
            <a:r>
              <a:rPr sz="1600">
                <a:solidFill>
                  <a:srgbClr val="1E1E1E"/>
                </a:solidFill>
                <a:latin typeface="Arial"/>
              </a:rPr>
              <a:t>Desafío superado: pasar desde ambiente local a funcionamiento cloud consumido por apps móviles.</a:t>
            </a:r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3213F"/>
          </a:solidFill>
          <a:ln/>
          <a:effectLst>
            <a:outerShdw blurRad="114300" dist="38100" dir="5400000" algn="bl" rotWithShape="0">
              <a:srgbClr val="0B1430">
                <a:alpha val="16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38528"/>
            <a:ext cx="420624" cy="4206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4944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46520" y="26060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sz="1600">
                <a:solidFill>
                  <a:srgbClr val="F5F8FF"/>
                </a:solidFill>
                <a:latin typeface="Arial"/>
              </a:rPr>
              <a:t>Dominio propio, HTTPS y certificados SSL.</a:t>
            </a:r>
            <a:endParaRPr lang="en-US" sz="1250" dirty="0"/>
          </a:p>
          <a:p>
            <a:r>
              <a:rPr sz="1600">
                <a:solidFill>
                  <a:srgbClr val="F5F8FF"/>
                </a:solidFill>
                <a:latin typeface="Arial"/>
              </a:rPr>
              <a:t>Separar la base de datos en servicio administrado o servidor independiente.</a:t>
            </a:r>
          </a:p>
          <a:p>
            <a:r>
              <a:rPr sz="1600">
                <a:solidFill>
                  <a:srgbClr val="F5F8FF"/>
                </a:solidFill>
                <a:latin typeface="Arial"/>
              </a:rPr>
              <a:t>Respaldos automáticos y monitoreo operativo.</a:t>
            </a:r>
          </a:p>
          <a:p>
            <a:r>
              <a:rPr sz="1600">
                <a:solidFill>
                  <a:srgbClr val="F5F8FF"/>
                </a:solidFill>
                <a:latin typeface="Arial"/>
              </a:rPr>
              <a:t>Panel web administrativo y reportes avanzados por colegio.</a:t>
            </a:r>
          </a:p>
          <a:p>
            <a:r>
              <a:rPr sz="1600">
                <a:solidFill>
                  <a:srgbClr val="F5F8FF"/>
                </a:solidFill>
                <a:latin typeface="Arial"/>
              </a:rPr>
              <a:t>Revisión legal de tratamiento de datos personales.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64592" cy="164592"/>
          </a:xfrm>
          <a:prstGeom prst="rect">
            <a:avLst/>
          </a:prstGeom>
          <a:solidFill>
            <a:srgbClr val="9DB2F2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9DB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CLAVE DE LA DEFENSA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producto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20624" cy="420624"/>
          </a:xfrm>
          <a:prstGeom prst="ellipse">
            <a:avLst/>
          </a:prstGeom>
          <a:solidFill>
            <a:srgbClr val="2F55D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F5F8FF"/>
                </a:solidFill>
                <a:latin typeface="Arial"/>
              </a:rPr>
              <a:t>Flujo principal: colegio registra prenda encontrada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624328"/>
            <a:ext cx="420624" cy="420624"/>
          </a:xfrm>
          <a:prstGeom prst="ellipse">
            <a:avLst/>
          </a:prstGeom>
          <a:solidFill>
            <a:srgbClr val="2F55D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57860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0">
                <a:solidFill>
                  <a:srgbClr val="F5F8FF"/>
                </a:solidFill>
                <a:latin typeface="Arial"/>
              </a:rPr>
              <a:t>Escaneo NFC → identificación del alumno → evento en backend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465576"/>
            <a:ext cx="420624" cy="420624"/>
          </a:xfrm>
          <a:prstGeom prst="ellipse">
            <a:avLst/>
          </a:prstGeom>
          <a:solidFill>
            <a:srgbClr val="2F55D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65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41985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0">
                <a:solidFill>
                  <a:srgbClr val="F5F8FF"/>
                </a:solidFill>
                <a:latin typeface="Arial"/>
              </a:rPr>
              <a:t>WorkManager consulta cada 15 min y genera notificación local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306824"/>
            <a:ext cx="420624" cy="420624"/>
          </a:xfrm>
          <a:prstGeom prst="ellipse">
            <a:avLst/>
          </a:prstGeom>
          <a:solidFill>
            <a:srgbClr val="2F55D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26110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0">
                <a:solidFill>
                  <a:srgbClr val="F5F8FF"/>
                </a:solidFill>
                <a:latin typeface="Arial"/>
              </a:rPr>
              <a:t>API REST desplegada en AWS EC2, puerto 8080, acceso por IP pública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0" y="1783080"/>
            <a:ext cx="4937760" cy="2606040"/>
          </a:xfrm>
          <a:prstGeom prst="roundRect">
            <a:avLst>
              <a:gd name="adj" fmla="val 2807"/>
            </a:avLst>
          </a:prstGeom>
          <a:solidFill>
            <a:srgbClr val="1C2E54"/>
          </a:solidFill>
          <a:ln w="19050">
            <a:solidFill>
              <a:srgbClr val="2F55D4"/>
            </a:solidFill>
            <a:prstDash val="dash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606040"/>
            <a:ext cx="548640" cy="5486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76656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3600" b="1">
                <a:solidFill>
                  <a:srgbClr val="7DBEFF"/>
                </a:solidFill>
                <a:latin typeface="Arial"/>
                <a:hlinkClick r:id="rId4"/>
              </a:rPr>
              <a:t>VER DEMO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83680" y="452628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243A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839712" y="4627614"/>
            <a:ext cx="4572000" cy="1077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700"/>
              </a:spcAft>
              <a:buSzPct val="100000"/>
              <a:buChar char="✓"/>
            </a:pPr>
            <a:r>
              <a:rPr sz="1400" b="0" dirty="0" err="1">
                <a:solidFill>
                  <a:srgbClr val="F5F8FF"/>
                </a:solidFill>
                <a:latin typeface="Arial"/>
              </a:rPr>
              <a:t>Recorrido</a:t>
            </a:r>
            <a:r>
              <a:rPr sz="1400" b="0" dirty="0">
                <a:solidFill>
                  <a:srgbClr val="F5F8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8FF"/>
                </a:solidFill>
                <a:latin typeface="Arial"/>
              </a:rPr>
              <a:t>sugerido</a:t>
            </a:r>
            <a:r>
              <a:rPr sz="1400" b="0" dirty="0">
                <a:solidFill>
                  <a:srgbClr val="F5F8FF"/>
                </a:solidFill>
                <a:latin typeface="Arial"/>
              </a:rPr>
              <a:t>:
1. Login de colegio
2. </a:t>
            </a:r>
            <a:r>
              <a:rPr sz="1400" b="0" dirty="0" err="1">
                <a:solidFill>
                  <a:srgbClr val="F5F8FF"/>
                </a:solidFill>
                <a:latin typeface="Arial"/>
              </a:rPr>
              <a:t>Escaneo</a:t>
            </a:r>
            <a:r>
              <a:rPr sz="1400" b="0" dirty="0">
                <a:solidFill>
                  <a:srgbClr val="F5F8FF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F5F8FF"/>
                </a:solidFill>
                <a:latin typeface="Arial"/>
              </a:rPr>
              <a:t>tarjeta</a:t>
            </a:r>
            <a:r>
              <a:rPr sz="1400" b="0" dirty="0">
                <a:solidFill>
                  <a:srgbClr val="F5F8FF"/>
                </a:solidFill>
                <a:latin typeface="Arial"/>
              </a:rPr>
              <a:t> NFC
3. Registro de </a:t>
            </a:r>
            <a:r>
              <a:rPr sz="1400" b="0" dirty="0" err="1">
                <a:solidFill>
                  <a:srgbClr val="F5F8FF"/>
                </a:solidFill>
                <a:latin typeface="Arial"/>
              </a:rPr>
              <a:t>prenda</a:t>
            </a:r>
            <a:r>
              <a:rPr sz="1400" b="0" dirty="0">
                <a:solidFill>
                  <a:srgbClr val="F5F8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8FF"/>
                </a:solidFill>
                <a:latin typeface="Arial"/>
              </a:rPr>
              <a:t>encontrada</a:t>
            </a:r>
            <a:r>
              <a:rPr sz="1400" b="0" dirty="0">
                <a:solidFill>
                  <a:srgbClr val="F5F8FF"/>
                </a:solidFill>
                <a:latin typeface="Arial"/>
              </a:rPr>
              <a:t>
4. </a:t>
            </a:r>
            <a:r>
              <a:rPr sz="1400" b="0" dirty="0" err="1">
                <a:solidFill>
                  <a:srgbClr val="F5F8FF"/>
                </a:solidFill>
                <a:latin typeface="Arial"/>
              </a:rPr>
              <a:t>Notificación</a:t>
            </a:r>
            <a:r>
              <a:rPr sz="1400" b="0" dirty="0">
                <a:solidFill>
                  <a:srgbClr val="F5F8FF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F5F8FF"/>
                </a:solidFill>
                <a:latin typeface="Arial"/>
              </a:rPr>
              <a:t>historial</a:t>
            </a:r>
            <a:r>
              <a:rPr sz="1400" b="0" dirty="0">
                <a:solidFill>
                  <a:srgbClr val="F5F8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8FF"/>
                </a:solidFill>
                <a:latin typeface="Arial"/>
              </a:rPr>
              <a:t>en</a:t>
            </a:r>
            <a:r>
              <a:rPr sz="1400" b="0" dirty="0">
                <a:solidFill>
                  <a:srgbClr val="F5F8FF"/>
                </a:solidFill>
                <a:latin typeface="Arial"/>
              </a:rPr>
              <a:t> app </a:t>
            </a:r>
            <a:r>
              <a:rPr sz="1400" b="0" dirty="0" err="1">
                <a:solidFill>
                  <a:srgbClr val="F5F8FF"/>
                </a:solidFill>
                <a:latin typeface="Arial"/>
              </a:rPr>
              <a:t>apoderado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C2E5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6517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97680" y="23317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334256" y="3337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DB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370832" y="4069080"/>
            <a:ext cx="2743200" cy="0"/>
          </a:xfrm>
          <a:prstGeom prst="line">
            <a:avLst/>
          </a:prstGeom>
          <a:noFill/>
          <a:ln w="31750">
            <a:solidFill>
              <a:srgbClr val="2F55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70832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2000" b="0">
                <a:solidFill>
                  <a:srgbClr val="F5F8FF"/>
                </a:solidFill>
                <a:latin typeface="Arial"/>
              </a:rPr>
              <a:t>Matías Ignacio Vargas Baeza
Taller Aplicado de Programación — Duoc UC
Sección 001D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70832" y="60350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2157</Words>
  <Application>Microsoft Office PowerPoint</Application>
  <PresentationFormat>Panorámica</PresentationFormat>
  <Paragraphs>302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Defensa Final - Taller Aplicado de Programación</dc:title>
  <dc:subject>PptxGenJS Presentation</dc:subject>
  <dc:creator>Duoc UC - Escuela de Informática y Telecomunicaciones</dc:creator>
  <cp:lastModifiedBy>Matias Vargas</cp:lastModifiedBy>
  <cp:revision>5</cp:revision>
  <dcterms:created xsi:type="dcterms:W3CDTF">2026-06-09T20:22:06Z</dcterms:created>
  <dcterms:modified xsi:type="dcterms:W3CDTF">2026-07-09T19:06:33Z</dcterms:modified>
</cp:coreProperties>
</file>